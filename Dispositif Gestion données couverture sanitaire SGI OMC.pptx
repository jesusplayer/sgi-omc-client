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9" r:id="rId1"/>
  </p:sldMasterIdLst>
  <p:sldIdLst>
    <p:sldId id="257" r:id="rId2"/>
    <p:sldId id="262" r:id="rId3"/>
    <p:sldId id="263" r:id="rId4"/>
    <p:sldId id="264" r:id="rId5"/>
    <p:sldId id="260" r:id="rId6"/>
    <p:sldId id="258" r:id="rId7"/>
    <p:sldId id="265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5"/>
    <p:restoredTop sz="96405"/>
  </p:normalViewPr>
  <p:slideViewPr>
    <p:cSldViewPr snapToGrid="0">
      <p:cViewPr varScale="1">
        <p:scale>
          <a:sx n="126" d="100"/>
          <a:sy n="126" d="100"/>
        </p:scale>
        <p:origin x="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24C-D145-A3FD-00E765D33ABF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24C-D145-A3FD-00E765D33ABF}"/>
              </c:ext>
            </c:extLst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624C-D145-A3FD-00E765D33ABF}"/>
              </c:ext>
            </c:extLst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624C-D145-A3FD-00E765D33ABF}"/>
              </c:ext>
            </c:extLst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624C-D145-A3FD-00E765D33A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Tahoma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PSF (NSI+AID)</c:v>
                </c:pt>
                <c:pt idx="1">
                  <c:v>Hôtels (5 PMA)</c:v>
                </c:pt>
                <c:pt idx="2">
                  <c:v>Palais Congrès</c:v>
                </c:pt>
                <c:pt idx="3">
                  <c:v>Hôtel de Ville</c:v>
                </c:pt>
                <c:pt idx="4">
                  <c:v>Régulation Méd.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78</c:v>
                </c:pt>
                <c:pt idx="2">
                  <c:v>64</c:v>
                </c:pt>
                <c:pt idx="3">
                  <c:v>31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24C-D145-A3FD-00E765D33A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1525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25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C4-3449-A3EF-53465DEB525D}"/>
              </c:ext>
            </c:extLst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C4-3449-A3EF-53465DEB52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Tahoma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C4-3449-A3EF-53465DEB52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Tahoma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C4-3449-A3EF-53465DEB52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Occupés (42%)</c:v>
                </c:pt>
                <c:pt idx="1">
                  <c:v>Disponibles (58%)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C4-3449-A3EF-53465DEB5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525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B0BEC5"/>
              </a:solidFill>
              <a:latin typeface="Tahoma"/>
              <a:cs typeface="Tahoma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1525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ln w="25400" cap="flat">
              <a:solidFill>
                <a:srgbClr val="29B6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B6F6"/>
              </a:solidFill>
              <a:ln w="9525" cap="flat">
                <a:solidFill>
                  <a:srgbClr val="29B6F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J-6</c:v>
                </c:pt>
                <c:pt idx="1">
                  <c:v>J-5</c:v>
                </c:pt>
                <c:pt idx="2">
                  <c:v>J-4</c:v>
                </c:pt>
                <c:pt idx="3">
                  <c:v>J-3</c:v>
                </c:pt>
                <c:pt idx="4">
                  <c:v>J-2</c:v>
                </c:pt>
                <c:pt idx="5">
                  <c:v>Hier</c:v>
                </c:pt>
                <c:pt idx="6">
                  <c:v>Auj.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</c:v>
                </c:pt>
                <c:pt idx="1">
                  <c:v>201</c:v>
                </c:pt>
                <c:pt idx="2">
                  <c:v>215</c:v>
                </c:pt>
                <c:pt idx="3">
                  <c:v>198</c:v>
                </c:pt>
                <c:pt idx="4">
                  <c:v>229</c:v>
                </c:pt>
                <c:pt idx="5">
                  <c:v>229</c:v>
                </c:pt>
                <c:pt idx="6">
                  <c:v>247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BE-4E4A-97BF-681BA508E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1525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2535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D2D9E-755E-70E2-E7EB-4F822F4B2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9B44DF-4BD2-3B44-9461-F733109C8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DB5D1B-BA56-56C4-952A-9B3B235E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A00A99-F11A-2400-6FAF-515B3E12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B993D-E757-68B0-6483-ACE8B323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58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DC7ED-2703-05B7-D49A-6ABEFD42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DFD187-E8AB-C39D-6962-1236015A6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66739-8A4D-214A-1099-56ED69E6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0ABC38-A4E8-08B8-6799-F9A2E42A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F20C07-F454-CF1C-C89B-72148DF3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44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3C32B-9543-85E5-A419-990A16C5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BB49A8-4D58-8C08-F87C-C69ED49E7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3F4172-85BE-9056-D5EB-FB8A92D5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46E6B6-F2D0-8073-43D5-4EC28B08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451C9E-E960-6B1E-AFAA-11AF14DA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01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315F2-9A93-0210-EECC-FC883B57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4E763A-3D98-E55E-723B-1D89E5672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A9B6A8-B6D0-602F-E9A4-6C02905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D18174-784D-40B5-16CD-314EB6F0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00167D-44A6-185F-78BC-89B37E19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235E0B-5380-9E1C-1D58-0840256E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076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66BD9-4E76-CBED-CF71-C8651EB9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37A387-4737-E833-DFD6-B5153F625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C40369-D190-25F7-A2E4-DE0D93C45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2BC5B1-0405-8CAC-73AE-3991AC2D5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35F6C22-6C8B-8282-D92E-3357C0B858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9AF3A3-8B6D-2E3F-73E1-0A9DB504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AA75A1-7C9B-80FE-CBE9-17908623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D6D1D5-D4D4-3993-2084-247AAF67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400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CD8B35-E79F-6E8D-B823-D250DB61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415F5D-D7B3-3FDC-95D8-6C322DF7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AC71B7-3EEB-8114-CEF8-0FE8AC8C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8C7EC3-78BA-C678-3DFE-8BB331AA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93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B31CAA-2D5D-2B90-16C1-43EDDD68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BFE274-6642-255D-3E1C-BD4CE5D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6B6E30-9DD2-6EDB-3351-23F71DCF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54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94BD3-E441-7A7C-8538-23FFF173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65E3B-0199-F745-26E5-4B2387927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D9DB30-46F3-97AC-0021-FD4222030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F8FFAE-8BEA-7BBB-EE40-5F3EF322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57C15C-A776-349B-E5E4-E7B1520A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DDF5DE-DC08-8B7D-B2C8-3C837254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731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E0B05-E398-9A5E-BE89-DC267E20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E4024E-1175-D563-D9F7-2DAD24DCE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67FB29-B177-5B57-92A3-7437214F4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9394BB-0F27-F488-C54B-A4A5E61C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D24BF-5733-5CAB-255F-86B52AD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0A5DE9-5786-C9B3-37AB-A2C7EF1A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53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3BFE1E-2216-EBB3-E6C7-BA1329C8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813D29-2A6D-A15C-F0C0-1B280EB6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A0561-E6AF-71AF-F560-C024D243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9ADCA-43C6-4D25-9BB7-4976AFDC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7C6E4A-46B3-6EF4-AC94-37A096B9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98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DF8CA2-37A6-46B5-C623-6C1394787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28DE34-6512-42CD-9DB9-876391CFB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FE1487-91A6-ABF7-E076-99B09C1B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2BDF82-965E-C1DE-1F65-CB343134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3D6849-F151-9578-2358-762239B2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86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DAF34FE-1355-B592-FAE0-19CF238A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AA72E7-D780-A16C-2617-4EC7B2EE3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5F4153-C6F9-1AB5-B7C8-DF82AEFB4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980BD-773D-F344-A0CC-55AAFEC1D355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080F9-3111-6017-DD4D-786654DD1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1E5263-BACA-FE0E-6B9A-0969BABCA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0DABF-A8C9-1C42-9048-D28968A473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01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07F58-34E6-DF24-8138-55F59D40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00885"/>
            <a:ext cx="11099800" cy="2753995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DISPOSITIF DE GESTION DES DONNEES DE COUVERTURE SANITAIRE</a:t>
            </a:r>
            <a:br>
              <a:rPr lang="fr-FR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sz="3600" b="1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Conférence Ministérielle de l’OMC- 26 au 29 Mars 2026 </a:t>
            </a:r>
            <a:endParaRPr lang="fr-FR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42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44ABF88-9AB0-36CF-5174-91D644271CD4}"/>
              </a:ext>
            </a:extLst>
          </p:cNvPr>
          <p:cNvSpPr txBox="1">
            <a:spLocks/>
          </p:cNvSpPr>
          <p:nvPr/>
        </p:nvSpPr>
        <p:spPr>
          <a:xfrm>
            <a:off x="0" y="39127"/>
            <a:ext cx="10515600" cy="4883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SITES DE COLLECTE (1/3)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3CB871C-D927-6BEF-2A2A-3B75A121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907670"/>
              </p:ext>
            </p:extLst>
          </p:nvPr>
        </p:nvGraphicFramePr>
        <p:xfrm>
          <a:off x="171072" y="633718"/>
          <a:ext cx="11590636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728">
                  <a:extLst>
                    <a:ext uri="{9D8B030D-6E8A-4147-A177-3AD203B41FA5}">
                      <a16:colId xmlns:a16="http://schemas.microsoft.com/office/drawing/2014/main" val="4185548926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4079298768"/>
                    </a:ext>
                  </a:extLst>
                </a:gridCol>
                <a:gridCol w="5994125">
                  <a:extLst>
                    <a:ext uri="{9D8B030D-6E8A-4147-A177-3AD203B41FA5}">
                      <a16:colId xmlns:a16="http://schemas.microsoft.com/office/drawing/2014/main" val="3865530628"/>
                    </a:ext>
                  </a:extLst>
                </a:gridCol>
                <a:gridCol w="2496063">
                  <a:extLst>
                    <a:ext uri="{9D8B030D-6E8A-4147-A177-3AD203B41FA5}">
                      <a16:colId xmlns:a16="http://schemas.microsoft.com/office/drawing/2014/main" val="3876772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Sites de Collecte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Acteurs Principaux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 de Données Clés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 Prioritaire</a:t>
                      </a: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379933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Point de santé au frontière (PSF)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Data NSI (aéroport international de </a:t>
                      </a:r>
                      <a:r>
                        <a:rPr lang="fr-FR" sz="1200" dirty="0" err="1"/>
                        <a:t>Nsimalen</a:t>
                      </a:r>
                      <a:r>
                        <a:rPr lang="fr-FR" sz="1200" dirty="0"/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Data AID (Aéroport International de Douala)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Données de criblage: température, symptômes suspects, historique de voyage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Données administratives: Identification du délégué/visiteur, pays de provenance, fonction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Statut vaccinal: Vérification du carnet de vaccination (Fièvre jaune, COVID-19, etc.)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Données de contact tracing: Numéro de vol/Siège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Décision d'orientation: Autorisation d'entrée, référence vers une FOSA pour test/isolement.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PMA (pour suivi)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FOSA (pour prise en charge)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Hôtel (pour alerte si cas contact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78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Hôtel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des PMA d’hôtel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Direction d’hôtel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Sécurité hôtelière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Registre des hôtes: Identification des délégués hébergés (nom, chambre, équipe, dates de séjour, contact local)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Alertes sanitaires quotidiennes: Déclaration de délégués malades (symptômes, heure de début, besoin d'un médecin, </a:t>
                      </a:r>
                      <a:r>
                        <a:rPr lang="fr-FR" sz="1200" dirty="0" err="1"/>
                        <a:t>auto-médication</a:t>
                      </a:r>
                      <a:r>
                        <a:rPr lang="fr-FR" sz="1200" dirty="0"/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Gestion des soins: Type de soins primaires administrés par le PMA, consommation de médicaments.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État des stocks: Niveau des stocks de premiers secours, équipements de protection individuelle (EPI), thermomètres.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Données de suivi: Localisation des délégués (en cas d'absence prolongée), heures de retour estimées (utile en cas d'évacuation nocturne ou d'alerte).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PMA (pour coordination)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Régulation médicale (en cas d'urgence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45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Palais des congrès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des PMA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Registre de passage: Identité des personnes ayant consulté au PMA du site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cliniques: Symptômes observés, diagnostics présomptifs, signes vitaux (TA, pouls, saturation).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Soins primaires: Nature des soins prodigués sur place (pansement, médicament, réhydratation...).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Décision d'orientation: Évacuation vers FOSA (nom de la FOSA, moyen de transport), retour à son poste/hôtel.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Traçabilité: Heure d'arrivée au PMA, heure de sortie/d'évacuation.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FOSA (pour prise en charge)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Régulation médicale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202496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0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44ABF88-9AB0-36CF-5174-91D644271CD4}"/>
              </a:ext>
            </a:extLst>
          </p:cNvPr>
          <p:cNvSpPr txBox="1">
            <a:spLocks/>
          </p:cNvSpPr>
          <p:nvPr/>
        </p:nvSpPr>
        <p:spPr>
          <a:xfrm>
            <a:off x="0" y="39127"/>
            <a:ext cx="10515600" cy="4883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SITES DE COLLECTE (2/3)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3CB871C-D927-6BEF-2A2A-3B75A121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259749"/>
              </p:ext>
            </p:extLst>
          </p:nvPr>
        </p:nvGraphicFramePr>
        <p:xfrm>
          <a:off x="171072" y="633718"/>
          <a:ext cx="11590636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728">
                  <a:extLst>
                    <a:ext uri="{9D8B030D-6E8A-4147-A177-3AD203B41FA5}">
                      <a16:colId xmlns:a16="http://schemas.microsoft.com/office/drawing/2014/main" val="4185548926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4079298768"/>
                    </a:ext>
                  </a:extLst>
                </a:gridCol>
                <a:gridCol w="5994125">
                  <a:extLst>
                    <a:ext uri="{9D8B030D-6E8A-4147-A177-3AD203B41FA5}">
                      <a16:colId xmlns:a16="http://schemas.microsoft.com/office/drawing/2014/main" val="3865530628"/>
                    </a:ext>
                  </a:extLst>
                </a:gridCol>
                <a:gridCol w="2496063">
                  <a:extLst>
                    <a:ext uri="{9D8B030D-6E8A-4147-A177-3AD203B41FA5}">
                      <a16:colId xmlns:a16="http://schemas.microsoft.com/office/drawing/2014/main" val="3876772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Sites de Collecte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Acteurs Principaux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 de Données Clés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 Prioritaire</a:t>
                      </a: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379933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FOSA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des FOSA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Équipes médicales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Laboratoires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d'admission: État à l’entrée, provenance (Hôtel, PSF, Palais des congrès), motif de consultation.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diagnostiques: Résultats d'examens (biologie, imagerie), Diagnostic final (classification CIM11).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de prise en charge: Traitements administrés, besoin ou non d'oxygène, admission en réanimation.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de suivi: Durée d'hospitalisation, devenir du patient (guérison, évacuation sanitaire, hébergement post-sortie, décès).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Capacités: Nombre de lits disponibles/occupés, spécialités médicales disponibles.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Régulation médicale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150237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Hôtel de ville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du PMA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Organisateurs de la foire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Exposants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Service d'hygiène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Registre de consultation PMA: Identité, âge, contact du visiteur/exposant, fonction (exposant, visiteur, personnel).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cliniques: Motif de passage, symptômes (fièvre, fatigue, diarrhée, malaise, céphalées, déshydratation...), diagnostics présomptifs, signes vitaux.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Soins primaires: Nature des soins prodigués sur place, consommation de médicaments.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Décision d'orientation: État à la sortie, référence vers FOSA (laquelle ?), moyen d'évacuation (ambulance, taxi, véhicule personnel).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de flux: Estimation de la fréquentation du site (affluence horaire/jour), nombre de passages au PMA par jour/heure, taux de consultation/visiteur.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environnementales: Alertes liées à la chaleur (coups de chaleur), à la qualité de l'eau ou des aliments (suspicion de toxi-infections alimentaires collectives - TIAC), incidents déclarés par les exposants.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Stock PMA: État des consommables et médicaments du poste médical avancé (réapprovisionnement nécessaire).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FOSA (pour prise en charge)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Régulation médicale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DLMEP/service d’hygiène (en cas de TIAC)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3692771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28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44ABF88-9AB0-36CF-5174-91D644271CD4}"/>
              </a:ext>
            </a:extLst>
          </p:cNvPr>
          <p:cNvSpPr txBox="1">
            <a:spLocks/>
          </p:cNvSpPr>
          <p:nvPr/>
        </p:nvSpPr>
        <p:spPr>
          <a:xfrm>
            <a:off x="0" y="39127"/>
            <a:ext cx="10515600" cy="4883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SITES DE COLLECTE (3/3)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3CB871C-D927-6BEF-2A2A-3B75A121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14864"/>
              </p:ext>
            </p:extLst>
          </p:nvPr>
        </p:nvGraphicFramePr>
        <p:xfrm>
          <a:off x="171072" y="633718"/>
          <a:ext cx="11590636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728">
                  <a:extLst>
                    <a:ext uri="{9D8B030D-6E8A-4147-A177-3AD203B41FA5}">
                      <a16:colId xmlns:a16="http://schemas.microsoft.com/office/drawing/2014/main" val="4185548926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4079298768"/>
                    </a:ext>
                  </a:extLst>
                </a:gridCol>
                <a:gridCol w="5994125">
                  <a:extLst>
                    <a:ext uri="{9D8B030D-6E8A-4147-A177-3AD203B41FA5}">
                      <a16:colId xmlns:a16="http://schemas.microsoft.com/office/drawing/2014/main" val="3865530628"/>
                    </a:ext>
                  </a:extLst>
                </a:gridCol>
                <a:gridCol w="2496063">
                  <a:extLst>
                    <a:ext uri="{9D8B030D-6E8A-4147-A177-3AD203B41FA5}">
                      <a16:colId xmlns:a16="http://schemas.microsoft.com/office/drawing/2014/main" val="3876772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Sites de Collecte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Acteurs Principaux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 de Données Clés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 Prioritaire</a:t>
                      </a: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379933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Régulation médicale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Équipe de régulation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Médecins régulateurs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Opérateurs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Données d'appel: Numéro appelant, identification de l'appelant (délégué, responsable hôtel, PMA...), motif de l'appel, niveau de gravité estimé (échelle de 1 à 5), localisation précise.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Moyens engagés: Type de moyen envoyé (ambulance, équipe SMUR, médecin sur place), heure de départ et d'arrivée, destination.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Conseils médicaux: Avis téléphoniques donnés, protocoles appliqués, prescription à distance.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Suivi des orientations: Confirmation de la prise en charge du patient dans la FOSA cible, litige éventuel (refus d'admission).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CM" sz="1200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Temps de réponse: Indicateur de performance (délai entre l'appel et l'arrivée des secours), nombre d'appels traités par heure.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FOSA (pour préparation admission)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3807355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Coordination Data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Équipe de pilotage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managers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Épidémiologistes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Logisticiens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Indicateurs clés de performance (KPI)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Opérationnels: Taux d'occupation des lits, temps de prise en charge moyen, consommation des stocks (seuils d'alerte), nombre d'évacuations.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Qualité: Taux de complétude des données, taux de remontée des données (par site), délai de transmission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Tableaux de bords dynamiques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CM" sz="12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Rapport de situation (SITREP)</a:t>
                      </a:r>
                    </a:p>
                  </a:txBody>
                  <a:tcPr marL="37069" marR="37069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Comité d'organisation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Ministère de la Santé Publique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Sécurité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CM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Partenaires techniques (OMS, CDC Afrique)</a:t>
                      </a:r>
                      <a:endParaRPr lang="fr-CM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7069" marR="37069" marT="0" marB="0" anchor="ctr"/>
                </a:tc>
                <a:extLst>
                  <a:ext uri="{0D108BD9-81ED-4DB2-BD59-A6C34878D82A}">
                    <a16:rowId xmlns:a16="http://schemas.microsoft.com/office/drawing/2014/main" val="247713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39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44ABF88-9AB0-36CF-5174-91D644271CD4}"/>
              </a:ext>
            </a:extLst>
          </p:cNvPr>
          <p:cNvSpPr txBox="1">
            <a:spLocks/>
          </p:cNvSpPr>
          <p:nvPr/>
        </p:nvSpPr>
        <p:spPr>
          <a:xfrm>
            <a:off x="0" y="39127"/>
            <a:ext cx="10515600" cy="4883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CIRCUIT DE DONNEES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E2E7FC7-82E4-337B-BB1B-B340FC13F70F}"/>
              </a:ext>
            </a:extLst>
          </p:cNvPr>
          <p:cNvGrpSpPr/>
          <p:nvPr/>
        </p:nvGrpSpPr>
        <p:grpSpPr>
          <a:xfrm>
            <a:off x="840260" y="556625"/>
            <a:ext cx="11020315" cy="5812625"/>
            <a:chOff x="874332" y="823609"/>
            <a:chExt cx="11020315" cy="581262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BB5964B0-FAC8-AF70-8CBA-95D609161AD1}"/>
                </a:ext>
              </a:extLst>
            </p:cNvPr>
            <p:cNvSpPr/>
            <p:nvPr/>
          </p:nvSpPr>
          <p:spPr>
            <a:xfrm>
              <a:off x="5350932" y="2842549"/>
              <a:ext cx="2489200" cy="1617133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Régulation Médicale </a:t>
              </a:r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Coordination Data</a:t>
              </a: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5F967FC5-46FB-3247-C5D6-BBCE924BCDE1}"/>
                </a:ext>
              </a:extLst>
            </p:cNvPr>
            <p:cNvCxnSpPr/>
            <p:nvPr/>
          </p:nvCxnSpPr>
          <p:spPr>
            <a:xfrm>
              <a:off x="5807121" y="3657597"/>
              <a:ext cx="157588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57617B6-5657-79C2-BEEA-D0D3DDBF170B}"/>
                </a:ext>
              </a:extLst>
            </p:cNvPr>
            <p:cNvSpPr/>
            <p:nvPr/>
          </p:nvSpPr>
          <p:spPr>
            <a:xfrm>
              <a:off x="7213807" y="823609"/>
              <a:ext cx="1824222" cy="1322961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Poste de Sant</a:t>
              </a:r>
              <a:r>
                <a:rPr lang="fr-CM" dirty="0"/>
                <a:t>é</a:t>
              </a:r>
              <a:r>
                <a:rPr lang="fr-FR" dirty="0"/>
                <a:t> aux Frontières (PSF)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09295F-CD4C-77FA-1479-97E9F3011446}"/>
                </a:ext>
              </a:extLst>
            </p:cNvPr>
            <p:cNvSpPr/>
            <p:nvPr/>
          </p:nvSpPr>
          <p:spPr>
            <a:xfrm>
              <a:off x="956710" y="3366784"/>
              <a:ext cx="2914899" cy="4850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Formation Sanitaire (4)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3B0A82-4E44-170E-EF05-5DAC17001D7A}"/>
                </a:ext>
              </a:extLst>
            </p:cNvPr>
            <p:cNvSpPr/>
            <p:nvPr/>
          </p:nvSpPr>
          <p:spPr>
            <a:xfrm>
              <a:off x="9179669" y="3366783"/>
              <a:ext cx="1984443" cy="581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Hôtels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875CE7-CD8E-B044-A5D2-A87CBDDB1DD0}"/>
                </a:ext>
              </a:extLst>
            </p:cNvPr>
            <p:cNvSpPr/>
            <p:nvPr/>
          </p:nvSpPr>
          <p:spPr>
            <a:xfrm>
              <a:off x="5048816" y="5171876"/>
              <a:ext cx="3170315" cy="5102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Palais des Congres</a:t>
              </a:r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15D9159B-09B4-8B0E-4A52-D3237922ABB9}"/>
                </a:ext>
              </a:extLst>
            </p:cNvPr>
            <p:cNvCxnSpPr>
              <a:cxnSpLocks/>
              <a:stCxn id="37" idx="3"/>
              <a:endCxn id="4" idx="1"/>
            </p:cNvCxnSpPr>
            <p:nvPr/>
          </p:nvCxnSpPr>
          <p:spPr>
            <a:xfrm>
              <a:off x="4968537" y="2129043"/>
              <a:ext cx="746930" cy="95033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92BA4BB7-BE1C-7D8B-6362-0DBCB290E0EC}"/>
                </a:ext>
              </a:extLst>
            </p:cNvPr>
            <p:cNvCxnSpPr>
              <a:cxnSpLocks/>
              <a:stCxn id="10" idx="3"/>
              <a:endCxn id="4" idx="7"/>
            </p:cNvCxnSpPr>
            <p:nvPr/>
          </p:nvCxnSpPr>
          <p:spPr>
            <a:xfrm flipH="1">
              <a:off x="7475597" y="1952827"/>
              <a:ext cx="5361" cy="112654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77A5C3C4-CC66-09F0-71EC-0471D2B31CD0}"/>
                </a:ext>
              </a:extLst>
            </p:cNvPr>
            <p:cNvCxnSpPr>
              <a:cxnSpLocks/>
              <a:stCxn id="11" idx="3"/>
              <a:endCxn id="4" idx="2"/>
            </p:cNvCxnSpPr>
            <p:nvPr/>
          </p:nvCxnSpPr>
          <p:spPr>
            <a:xfrm>
              <a:off x="3871609" y="3609312"/>
              <a:ext cx="1479323" cy="4180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6130817D-2ECF-B5FC-DA4D-6DA3414A9F18}"/>
                </a:ext>
              </a:extLst>
            </p:cNvPr>
            <p:cNvCxnSpPr>
              <a:cxnSpLocks/>
              <a:stCxn id="12" idx="1"/>
              <a:endCxn id="4" idx="6"/>
            </p:cNvCxnSpPr>
            <p:nvPr/>
          </p:nvCxnSpPr>
          <p:spPr>
            <a:xfrm flipH="1" flipV="1">
              <a:off x="7840132" y="3651116"/>
              <a:ext cx="1339537" cy="64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89893671-9659-F5FF-EEA4-344C25E8EA6F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6595062" y="4459682"/>
              <a:ext cx="470" cy="71219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84F9F5C-93E2-FDD5-D3D4-C55E650A5686}"/>
                </a:ext>
              </a:extLst>
            </p:cNvPr>
            <p:cNvSpPr/>
            <p:nvPr/>
          </p:nvSpPr>
          <p:spPr>
            <a:xfrm>
              <a:off x="1912232" y="4612026"/>
              <a:ext cx="1003853" cy="4075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Labo</a:t>
              </a:r>
            </a:p>
          </p:txBody>
        </p: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8C5B9DB3-1253-31A8-0565-71E3E42306A8}"/>
                </a:ext>
              </a:extLst>
            </p:cNvPr>
            <p:cNvCxnSpPr>
              <a:cxnSpLocks/>
              <a:stCxn id="11" idx="2"/>
              <a:endCxn id="19" idx="0"/>
            </p:cNvCxnSpPr>
            <p:nvPr/>
          </p:nvCxnSpPr>
          <p:spPr>
            <a:xfrm flipH="1">
              <a:off x="2414159" y="3851840"/>
              <a:ext cx="1" cy="76018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CFB073A-CCAA-1B3C-4FCC-6DF8420AB8FF}"/>
                </a:ext>
              </a:extLst>
            </p:cNvPr>
            <p:cNvSpPr txBox="1"/>
            <p:nvPr/>
          </p:nvSpPr>
          <p:spPr>
            <a:xfrm>
              <a:off x="9038029" y="1051716"/>
              <a:ext cx="28566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Poste Médical Avancé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Ambulance 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Formulaire PSF (NSI et AID)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Fiche Rapport Couverture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92C3D8B-F318-4A82-F296-A09C7BF2044A}"/>
                </a:ext>
              </a:extLst>
            </p:cNvPr>
            <p:cNvSpPr txBox="1"/>
            <p:nvPr/>
          </p:nvSpPr>
          <p:spPr>
            <a:xfrm>
              <a:off x="8657402" y="3988101"/>
              <a:ext cx="317031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Poste Médical Avancé (dans 5 hôtels)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ambulance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Autres hôtels sans PMA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Fiche Rapport Couverture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397303C-1857-743A-781F-F2BBA0491123}"/>
                </a:ext>
              </a:extLst>
            </p:cNvPr>
            <p:cNvSpPr txBox="1"/>
            <p:nvPr/>
          </p:nvSpPr>
          <p:spPr>
            <a:xfrm>
              <a:off x="5048816" y="5682127"/>
              <a:ext cx="34750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Poste Médical Avancé (2)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Poste</a:t>
              </a:r>
              <a:r>
                <a:rPr lang="fr-CM" sz="1400" dirty="0"/>
                <a:t> Avancé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M" sz="1400" dirty="0"/>
                <a:t>Ambulance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M" sz="1400" dirty="0"/>
                <a:t>Fiche Rapport Couverture</a:t>
              </a: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F7A7B9EF-16E4-8344-DDE5-3C04CC5ADD3E}"/>
                </a:ext>
              </a:extLst>
            </p:cNvPr>
            <p:cNvSpPr txBox="1"/>
            <p:nvPr/>
          </p:nvSpPr>
          <p:spPr>
            <a:xfrm>
              <a:off x="874332" y="2905597"/>
              <a:ext cx="2331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Formulaire Prise En Charge 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E3A44CA-B7FE-DB31-F70A-8B3FE55FB61B}"/>
              </a:ext>
            </a:extLst>
          </p:cNvPr>
          <p:cNvSpPr/>
          <p:nvPr/>
        </p:nvSpPr>
        <p:spPr>
          <a:xfrm>
            <a:off x="2568493" y="1606933"/>
            <a:ext cx="2365972" cy="510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Hôtel de ville (Foire)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46149EB-8F04-8794-46DA-96EBEBB1242F}"/>
              </a:ext>
            </a:extLst>
          </p:cNvPr>
          <p:cNvSpPr txBox="1"/>
          <p:nvPr/>
        </p:nvSpPr>
        <p:spPr>
          <a:xfrm>
            <a:off x="2497213" y="868801"/>
            <a:ext cx="3475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Poste Médical Avancé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M" sz="1400" dirty="0"/>
              <a:t>Ambulance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M" sz="1400" dirty="0"/>
              <a:t>Fiche Rapport Couverture</a:t>
            </a:r>
          </a:p>
        </p:txBody>
      </p:sp>
    </p:spTree>
    <p:extLst>
      <p:ext uri="{BB962C8B-B14F-4D97-AF65-F5344CB8AC3E}">
        <p14:creationId xmlns:p14="http://schemas.microsoft.com/office/powerpoint/2010/main" val="332341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A0B80-77F4-94BD-A82B-D22C9E86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115756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INDICATEURS (A FINALISER)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D2B9F78-1B21-6300-FDB4-9780CC8BE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416420"/>
              </p:ext>
            </p:extLst>
          </p:nvPr>
        </p:nvGraphicFramePr>
        <p:xfrm>
          <a:off x="457200" y="710119"/>
          <a:ext cx="11638278" cy="57879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3120">
                  <a:extLst>
                    <a:ext uri="{9D8B030D-6E8A-4147-A177-3AD203B41FA5}">
                      <a16:colId xmlns:a16="http://schemas.microsoft.com/office/drawing/2014/main" val="45606780"/>
                    </a:ext>
                  </a:extLst>
                </a:gridCol>
                <a:gridCol w="3823288">
                  <a:extLst>
                    <a:ext uri="{9D8B030D-6E8A-4147-A177-3AD203B41FA5}">
                      <a16:colId xmlns:a16="http://schemas.microsoft.com/office/drawing/2014/main" val="1851503203"/>
                    </a:ext>
                  </a:extLst>
                </a:gridCol>
                <a:gridCol w="2933450">
                  <a:extLst>
                    <a:ext uri="{9D8B030D-6E8A-4147-A177-3AD203B41FA5}">
                      <a16:colId xmlns:a16="http://schemas.microsoft.com/office/drawing/2014/main" val="1662655326"/>
                    </a:ext>
                  </a:extLst>
                </a:gridCol>
                <a:gridCol w="1576069">
                  <a:extLst>
                    <a:ext uri="{9D8B030D-6E8A-4147-A177-3AD203B41FA5}">
                      <a16:colId xmlns:a16="http://schemas.microsoft.com/office/drawing/2014/main" val="4280244430"/>
                    </a:ext>
                  </a:extLst>
                </a:gridCol>
                <a:gridCol w="1352351">
                  <a:extLst>
                    <a:ext uri="{9D8B030D-6E8A-4147-A177-3AD203B41FA5}">
                      <a16:colId xmlns:a16="http://schemas.microsoft.com/office/drawing/2014/main" val="505662541"/>
                    </a:ext>
                  </a:extLst>
                </a:gridCol>
              </a:tblGrid>
              <a:tr h="689763">
                <a:tc>
                  <a:txBody>
                    <a:bodyPr/>
                    <a:lstStyle/>
                    <a:p>
                      <a:r>
                        <a:rPr lang="fr-CM" sz="10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Indicateur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0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de Collecte des Éléments de la Formule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10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Formule de Calcul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M" sz="10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Périodicité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M" sz="10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Seuil d'Alerte (Proposition)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772625027"/>
                  </a:ext>
                </a:extLst>
              </a:tr>
              <a:tr h="253394">
                <a:tc rowSpan="2"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Taux de fréquentation des postes médicaux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Postes médicaux sur site (Infirmeries)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total de consultations / Effectif total des personnes accréditées)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Quotidienne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 5%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3005452851"/>
                  </a:ext>
                </a:extLst>
              </a:tr>
              <a:tr h="2533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Liste officielle des personnes accréditées (Comité d'organisation/Sécurité)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77534"/>
                  </a:ext>
                </a:extLst>
              </a:tr>
              <a:tr h="253394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Délai moyen de prise en charge initiale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Heure d'arrivée: Postes médicaux sur site (Enregistrement)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Somme (Heure de consultation - Heure d'arrivée) pour tous les patients / Nombre total de patients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Quotidienne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 15 minutes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3333749908"/>
                  </a:ext>
                </a:extLst>
              </a:tr>
              <a:tr h="40111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Heure de première consultation: Postes médicaux sur site (Dossier patient)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21605"/>
                  </a:ext>
                </a:extLst>
              </a:tr>
              <a:tr h="379899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Taux d'orientation vers les hôpitaux de référence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Postes médicaux sur site (Registre des transferts) &amp; Régulation des ambulances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de patients orientés vers un hôpital / Nombre total de consultations)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Quotidienne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 2%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1304491776"/>
                  </a:ext>
                </a:extLst>
              </a:tr>
              <a:tr h="2533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Postes médicaux sur site (Registre des consultations)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377029"/>
                  </a:ext>
                </a:extLst>
              </a:tr>
              <a:tr h="253394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Taux d'occupation des lits dédiés (VIP)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Hôpitaux de référence désignés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de lits dédiés à la conférence occupés / Nombre total de lits dédiés à la conférence)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Bi-quotidienne (Matin/Soir)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 75%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1385862666"/>
                  </a:ext>
                </a:extLst>
              </a:tr>
              <a:tr h="2533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Hôpitaux de référence désignés (Direction/Administration)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514069"/>
                  </a:ext>
                </a:extLst>
              </a:tr>
              <a:tr h="253394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Proportion des structures sanitaires mobilisées respectant les normes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Équipe d'inspection MINSANTE/Sécurité (Audit sur site)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de postes/hôpitaux conformes à la checklist / Nombre total de structures mobilisées)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Unique (Avant J-1)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 100%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3025634123"/>
                  </a:ext>
                </a:extLst>
              </a:tr>
              <a:tr h="2533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Cellule de coordination MINSANTE (Liste officielle)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02888"/>
                  </a:ext>
                </a:extLst>
              </a:tr>
              <a:tr h="327253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Délai d'acheminement des alertes au PC de crise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Heure d'envoi: Postes médicaux / Régulation / Hôpitaux (Système de communication)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Somme (Heure de réception au PC - Heure de déclenchement de l'alerte) pour toutes les alertes / Nombre total d'alertes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 alerte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&gt; 10 minutes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2493588579"/>
                  </a:ext>
                </a:extLst>
              </a:tr>
              <a:tr h="32725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Heure de réception: Cellule de pilotage/Coordination (Registre des alertes)</a:t>
                      </a: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354300"/>
                  </a:ext>
                </a:extLst>
              </a:tr>
              <a:tr h="379899"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Indice de réaction aux épidémies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 b="0" u="non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Cellule de pilotage 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de protocoles d'urgence déclenchés dans les délais / Nombre total de protocoles déclenchés)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 alerte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 90%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2867258671"/>
                  </a:ext>
                </a:extLst>
              </a:tr>
              <a:tr h="25339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Cellule de pilotage (Rapport d'intervention)</a:t>
                      </a:r>
                    </a:p>
                  </a:txBody>
                  <a:tcPr marL="16434" marR="16434" marT="0" marB="0" anchor="ctr">
                    <a:solidFill>
                      <a:srgbClr val="F2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64694"/>
                  </a:ext>
                </a:extLst>
              </a:tr>
              <a:tr h="545421">
                <a:tc rowSpan="2"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Taux de satisfaction des usagers (délégués)</a:t>
                      </a: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Numérateur: Service médical / Comité d'organisation (Enquête anonyme / Boîte à idées)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(Nombre de délégués satisfaits ou très satisfaits / Nombre total de délégués ayant répondu) × 100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Hebdomadaire</a:t>
                      </a:r>
                    </a:p>
                  </a:txBody>
                  <a:tcPr marL="16434" marR="16434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CM" sz="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 80%</a:t>
                      </a: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1970961752"/>
                  </a:ext>
                </a:extLst>
              </a:tr>
              <a:tr h="456819">
                <a:tc vMerge="1">
                  <a:txBody>
                    <a:bodyPr/>
                    <a:lstStyle/>
                    <a:p>
                      <a:endParaRPr lang="fr-CM" sz="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6434" marR="16434" marT="0" marB="0" anchor="ctr"/>
                </a:tc>
                <a:tc>
                  <a:txBody>
                    <a:bodyPr/>
                    <a:lstStyle/>
                    <a:p>
                      <a:r>
                        <a:rPr lang="fr-CM" sz="7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Dénominateur: Service médical / Comité d'organisation (Enquête anonyme)</a:t>
                      </a:r>
                    </a:p>
                  </a:txBody>
                  <a:tcPr marL="16434" marR="16434" marT="0" marB="0" anchor="ctr">
                    <a:solidFill>
                      <a:srgbClr val="F2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CM" sz="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CM" sz="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6434" marR="16434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CM" sz="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6434" marR="16434" marT="0" marB="0" anchor="ctr"/>
                </a:tc>
                <a:extLst>
                  <a:ext uri="{0D108BD9-81ED-4DB2-BD59-A6C34878D82A}">
                    <a16:rowId xmlns:a16="http://schemas.microsoft.com/office/drawing/2014/main" val="428433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68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AC84A1-FF9F-CBAC-B154-DD09CB8BE105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BCAD8E-FB55-B7C4-1E19-6C523ED85425}"/>
              </a:ext>
            </a:extLst>
          </p:cNvPr>
          <p:cNvSpPr/>
          <p:nvPr/>
        </p:nvSpPr>
        <p:spPr>
          <a:xfrm>
            <a:off x="0" y="658368"/>
            <a:ext cx="1219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821AE7-6041-0A6E-1B98-008AB27DE488}"/>
              </a:ext>
            </a:extLst>
          </p:cNvPr>
          <p:cNvSpPr/>
          <p:nvPr/>
        </p:nvSpPr>
        <p:spPr>
          <a:xfrm>
            <a:off x="274320" y="0"/>
            <a:ext cx="10779760" cy="46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COUVERTURE SANITAIRE — CONFÉRENCE MINISTÉRIELLE 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F9B04B-D3F8-1200-3B67-41B1813CC593}"/>
              </a:ext>
            </a:extLst>
          </p:cNvPr>
          <p:cNvSpPr/>
          <p:nvPr/>
        </p:nvSpPr>
        <p:spPr>
          <a:xfrm>
            <a:off x="274320" y="32918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B6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Mise à jour : Quotidienne  |  Sites : PSF • Hôtels • Palais des Congrès • Hôtel de Ville • FOSA • Régulation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FE6706-EEE4-C3F2-7E6F-01DD166205F0}"/>
              </a:ext>
            </a:extLst>
          </p:cNvPr>
          <p:cNvSpPr/>
          <p:nvPr/>
        </p:nvSpPr>
        <p:spPr>
          <a:xfrm>
            <a:off x="11753088" y="299720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DAC330-607D-7207-6A72-805899513EEA}"/>
              </a:ext>
            </a:extLst>
          </p:cNvPr>
          <p:cNvSpPr/>
          <p:nvPr/>
        </p:nvSpPr>
        <p:spPr>
          <a:xfrm>
            <a:off x="11630152" y="4709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CAF5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 DIRECT</a:t>
            </a:r>
            <a:endParaRPr lang="en-US" sz="6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7EA00BA-5CAB-DC7C-2B97-AA60C780A389}"/>
              </a:ext>
            </a:extLst>
          </p:cNvPr>
          <p:cNvSpPr/>
          <p:nvPr/>
        </p:nvSpPr>
        <p:spPr>
          <a:xfrm>
            <a:off x="91440" y="749808"/>
            <a:ext cx="3329432" cy="987552"/>
          </a:xfrm>
          <a:prstGeom prst="rect">
            <a:avLst/>
          </a:prstGeom>
          <a:solidFill>
            <a:srgbClr val="152535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1F1848F-A319-A2DB-83F8-579465F00130}"/>
              </a:ext>
            </a:extLst>
          </p:cNvPr>
          <p:cNvSpPr/>
          <p:nvPr/>
        </p:nvSpPr>
        <p:spPr>
          <a:xfrm>
            <a:off x="91440" y="749808"/>
            <a:ext cx="45720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948D00-8C96-3CAE-160D-BFCE5B89BCFE}"/>
              </a:ext>
            </a:extLst>
          </p:cNvPr>
          <p:cNvSpPr/>
          <p:nvPr/>
        </p:nvSpPr>
        <p:spPr>
          <a:xfrm>
            <a:off x="201168" y="81381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Consultations totales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9AF127-9F9F-56F8-777D-09AF22CB7B77}"/>
              </a:ext>
            </a:extLst>
          </p:cNvPr>
          <p:cNvSpPr/>
          <p:nvPr/>
        </p:nvSpPr>
        <p:spPr>
          <a:xfrm>
            <a:off x="201168" y="100584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247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731095-8A2E-C375-A587-EFC53AAF98CC}"/>
              </a:ext>
            </a:extLst>
          </p:cNvPr>
          <p:cNvSpPr/>
          <p:nvPr/>
        </p:nvSpPr>
        <p:spPr>
          <a:xfrm>
            <a:off x="201168" y="146304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9B6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▲ +18 vs hier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DEDFA47-6DA7-076E-538D-3155E10806B4}"/>
              </a:ext>
            </a:extLst>
          </p:cNvPr>
          <p:cNvSpPr/>
          <p:nvPr/>
        </p:nvSpPr>
        <p:spPr>
          <a:xfrm>
            <a:off x="3448304" y="749808"/>
            <a:ext cx="3089656" cy="987552"/>
          </a:xfrm>
          <a:prstGeom prst="rect">
            <a:avLst/>
          </a:prstGeom>
          <a:solidFill>
            <a:srgbClr val="152535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73EDC3B-0968-9059-3364-4438FF240702}"/>
              </a:ext>
            </a:extLst>
          </p:cNvPr>
          <p:cNvSpPr/>
          <p:nvPr/>
        </p:nvSpPr>
        <p:spPr>
          <a:xfrm>
            <a:off x="3448304" y="749808"/>
            <a:ext cx="45720" cy="987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20F5B1-4F0A-9DED-57D1-7499AF01A0BF}"/>
              </a:ext>
            </a:extLst>
          </p:cNvPr>
          <p:cNvSpPr/>
          <p:nvPr/>
        </p:nvSpPr>
        <p:spPr>
          <a:xfrm>
            <a:off x="3558032" y="81381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Taux de fréquentation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80203-0B30-5B1A-0D77-59A4F4C74092}"/>
              </a:ext>
            </a:extLst>
          </p:cNvPr>
          <p:cNvSpPr/>
          <p:nvPr/>
        </p:nvSpPr>
        <p:spPr>
          <a:xfrm>
            <a:off x="3558032" y="100584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3,2%</a:t>
            </a: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5F1FD69-83EF-2878-B2E3-AF0A9011E23F}"/>
              </a:ext>
            </a:extLst>
          </p:cNvPr>
          <p:cNvSpPr/>
          <p:nvPr/>
        </p:nvSpPr>
        <p:spPr>
          <a:xfrm>
            <a:off x="3558032" y="146304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Seuil alerte : 5%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9DE6BA1-8842-F260-CF88-105AA71F32F4}"/>
              </a:ext>
            </a:extLst>
          </p:cNvPr>
          <p:cNvSpPr/>
          <p:nvPr/>
        </p:nvSpPr>
        <p:spPr>
          <a:xfrm>
            <a:off x="6601968" y="749808"/>
            <a:ext cx="3455416" cy="987552"/>
          </a:xfrm>
          <a:prstGeom prst="rect">
            <a:avLst/>
          </a:prstGeom>
          <a:solidFill>
            <a:srgbClr val="152535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E461859-CA43-259C-F5D7-E7B0F9B8DB4C}"/>
              </a:ext>
            </a:extLst>
          </p:cNvPr>
          <p:cNvSpPr/>
          <p:nvPr/>
        </p:nvSpPr>
        <p:spPr>
          <a:xfrm>
            <a:off x="6601968" y="749808"/>
            <a:ext cx="45720" cy="9875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04D8FBC-997F-DED9-9B73-08D37395F1D7}"/>
              </a:ext>
            </a:extLst>
          </p:cNvPr>
          <p:cNvSpPr/>
          <p:nvPr/>
        </p:nvSpPr>
        <p:spPr>
          <a:xfrm>
            <a:off x="6711696" y="81381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Évacuations vers FOSA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B4F9F31-84FD-72A7-26B0-C64677B963CE}"/>
              </a:ext>
            </a:extLst>
          </p:cNvPr>
          <p:cNvSpPr/>
          <p:nvPr/>
        </p:nvSpPr>
        <p:spPr>
          <a:xfrm>
            <a:off x="6711696" y="100584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E2E7F6-DAB0-F961-427B-8A34E4CFDC72}"/>
              </a:ext>
            </a:extLst>
          </p:cNvPr>
          <p:cNvSpPr/>
          <p:nvPr/>
        </p:nvSpPr>
        <p:spPr>
          <a:xfrm>
            <a:off x="6711696" y="146304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Taux : 1,6% ✔ &lt; 2%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D5E8F2D-7B71-E193-B4E7-4B50004C7EFC}"/>
              </a:ext>
            </a:extLst>
          </p:cNvPr>
          <p:cNvSpPr/>
          <p:nvPr/>
        </p:nvSpPr>
        <p:spPr>
          <a:xfrm>
            <a:off x="10121392" y="749808"/>
            <a:ext cx="2084832" cy="987552"/>
          </a:xfrm>
          <a:prstGeom prst="rect">
            <a:avLst/>
          </a:prstGeom>
          <a:solidFill>
            <a:srgbClr val="152535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546C36D-BCB2-B945-91DE-3F1258E9012C}"/>
              </a:ext>
            </a:extLst>
          </p:cNvPr>
          <p:cNvSpPr/>
          <p:nvPr/>
        </p:nvSpPr>
        <p:spPr>
          <a:xfrm>
            <a:off x="10121392" y="749808"/>
            <a:ext cx="45720" cy="9875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4126070-5510-385B-4A19-304FA5BD4FB9}"/>
              </a:ext>
            </a:extLst>
          </p:cNvPr>
          <p:cNvSpPr/>
          <p:nvPr/>
        </p:nvSpPr>
        <p:spPr>
          <a:xfrm>
            <a:off x="10231120" y="81381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Délai moy. prise en charge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D9CAB29-6A61-CEAD-F345-D8601B9B2B3C}"/>
              </a:ext>
            </a:extLst>
          </p:cNvPr>
          <p:cNvSpPr/>
          <p:nvPr/>
        </p:nvSpPr>
        <p:spPr>
          <a:xfrm>
            <a:off x="10231120" y="100584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min</a:t>
            </a:r>
            <a:endParaRPr lang="en-US" sz="2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F47B5CC-3C8A-F145-7AE3-A7B2927E2795}"/>
              </a:ext>
            </a:extLst>
          </p:cNvPr>
          <p:cNvSpPr/>
          <p:nvPr/>
        </p:nvSpPr>
        <p:spPr>
          <a:xfrm>
            <a:off x="10231120" y="146304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Seuil alerte : 15 min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52DDDDB-8504-DA48-EF0F-5CC9456906A3}"/>
              </a:ext>
            </a:extLst>
          </p:cNvPr>
          <p:cNvSpPr/>
          <p:nvPr/>
        </p:nvSpPr>
        <p:spPr>
          <a:xfrm>
            <a:off x="0" y="1901952"/>
            <a:ext cx="4297680" cy="34848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59F36AD-C458-9692-2858-8DD00F415BED}"/>
              </a:ext>
            </a:extLst>
          </p:cNvPr>
          <p:cNvSpPr/>
          <p:nvPr/>
        </p:nvSpPr>
        <p:spPr>
          <a:xfrm>
            <a:off x="182880" y="1965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B6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CONSULTATIONS PAR SITE</a:t>
            </a:r>
            <a:endParaRPr lang="en-US" sz="850" dirty="0"/>
          </a:p>
        </p:txBody>
      </p:sp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9DBD3D6B-4CB3-8CE0-40D8-12FCE4F2B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163298"/>
              </p:ext>
            </p:extLst>
          </p:nvPr>
        </p:nvGraphicFramePr>
        <p:xfrm>
          <a:off x="33020" y="3251708"/>
          <a:ext cx="4206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Shape 28">
            <a:extLst>
              <a:ext uri="{FF2B5EF4-FFF2-40B4-BE49-F238E27FC236}">
                <a16:creationId xmlns:a16="http://schemas.microsoft.com/office/drawing/2014/main" id="{A23405D3-C327-FF43-A2AA-BD86F9447266}"/>
              </a:ext>
            </a:extLst>
          </p:cNvPr>
          <p:cNvSpPr/>
          <p:nvPr/>
        </p:nvSpPr>
        <p:spPr>
          <a:xfrm>
            <a:off x="4434840" y="1901952"/>
            <a:ext cx="3238500" cy="3512312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390BE37-720D-B8E1-C4DF-CF9DCB7D7FA2}"/>
              </a:ext>
            </a:extLst>
          </p:cNvPr>
          <p:cNvSpPr/>
          <p:nvPr/>
        </p:nvSpPr>
        <p:spPr>
          <a:xfrm>
            <a:off x="452628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B6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OCCUPATION LITS VIP</a:t>
            </a:r>
            <a:endParaRPr lang="en-US" sz="850" dirty="0"/>
          </a:p>
        </p:txBody>
      </p:sp>
      <p:graphicFrame>
        <p:nvGraphicFramePr>
          <p:cNvPr id="33" name="Chart 1">
            <a:extLst>
              <a:ext uri="{FF2B5EF4-FFF2-40B4-BE49-F238E27FC236}">
                <a16:creationId xmlns:a16="http://schemas.microsoft.com/office/drawing/2014/main" id="{EBA253AE-0ED2-0514-41F1-DE44EF29BB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6002885"/>
              </p:ext>
            </p:extLst>
          </p:nvPr>
        </p:nvGraphicFramePr>
        <p:xfrm>
          <a:off x="4480560" y="2176271"/>
          <a:ext cx="3004820" cy="2824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0">
            <a:extLst>
              <a:ext uri="{FF2B5EF4-FFF2-40B4-BE49-F238E27FC236}">
                <a16:creationId xmlns:a16="http://schemas.microsoft.com/office/drawing/2014/main" id="{68F3B3A1-47FA-365C-C3E3-8AC84FD02395}"/>
              </a:ext>
            </a:extLst>
          </p:cNvPr>
          <p:cNvSpPr/>
          <p:nvPr/>
        </p:nvSpPr>
        <p:spPr>
          <a:xfrm>
            <a:off x="7731760" y="1901952"/>
            <a:ext cx="4460240" cy="34848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CA527E9-4BD2-481E-2D0E-D3630350A60C}"/>
              </a:ext>
            </a:extLst>
          </p:cNvPr>
          <p:cNvSpPr/>
          <p:nvPr/>
        </p:nvSpPr>
        <p:spPr>
          <a:xfrm>
            <a:off x="8021320" y="1965960"/>
            <a:ext cx="396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TENDANCE J-7 (consultations/jour)</a:t>
            </a:r>
            <a:endParaRPr lang="en-US" sz="1100" dirty="0"/>
          </a:p>
        </p:txBody>
      </p:sp>
      <p:graphicFrame>
        <p:nvGraphicFramePr>
          <p:cNvPr id="36" name="Chart 2">
            <a:extLst>
              <a:ext uri="{FF2B5EF4-FFF2-40B4-BE49-F238E27FC236}">
                <a16:creationId xmlns:a16="http://schemas.microsoft.com/office/drawing/2014/main" id="{A6163089-D763-8E0C-A5EA-2A68D89607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0637988"/>
              </p:ext>
            </p:extLst>
          </p:nvPr>
        </p:nvGraphicFramePr>
        <p:xfrm>
          <a:off x="7978140" y="3309112"/>
          <a:ext cx="3967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Shape 32">
            <a:extLst>
              <a:ext uri="{FF2B5EF4-FFF2-40B4-BE49-F238E27FC236}">
                <a16:creationId xmlns:a16="http://schemas.microsoft.com/office/drawing/2014/main" id="{8E7E3DF7-B4E5-F7D8-D158-52BA5E52D2A8}"/>
              </a:ext>
            </a:extLst>
          </p:cNvPr>
          <p:cNvSpPr/>
          <p:nvPr/>
        </p:nvSpPr>
        <p:spPr>
          <a:xfrm>
            <a:off x="10160" y="5478272"/>
            <a:ext cx="5496560" cy="1024128"/>
          </a:xfrm>
          <a:prstGeom prst="rect">
            <a:avLst/>
          </a:prstGeom>
          <a:solidFill>
            <a:srgbClr val="152535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1769B079-CCC1-34C4-BB37-A5FAEF0582D6}"/>
              </a:ext>
            </a:extLst>
          </p:cNvPr>
          <p:cNvSpPr/>
          <p:nvPr/>
        </p:nvSpPr>
        <p:spPr>
          <a:xfrm>
            <a:off x="10160" y="5478272"/>
            <a:ext cx="45720" cy="10241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41DB5787-C8EA-9EF3-F849-D457B01A5E99}"/>
              </a:ext>
            </a:extLst>
          </p:cNvPr>
          <p:cNvSpPr/>
          <p:nvPr/>
        </p:nvSpPr>
        <p:spPr>
          <a:xfrm>
            <a:off x="119888" y="5542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9A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ALERTES ACTIVES</a:t>
            </a:r>
            <a:endParaRPr lang="en-US" sz="85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7ECE70AD-769E-36F2-7F37-50EEEFA5BE91}"/>
              </a:ext>
            </a:extLst>
          </p:cNvPr>
          <p:cNvSpPr/>
          <p:nvPr/>
        </p:nvSpPr>
        <p:spPr>
          <a:xfrm>
            <a:off x="119888" y="57525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Stock EPI — Hôtel Hilton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Niveau critique → Réapprovisionnement en cours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Transmission données — PSF AID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Retard 45 min → En investigation</a:t>
            </a:r>
            <a:endParaRPr lang="en-US" sz="1100" dirty="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2F08853C-8931-D5A3-9BD0-AEE7A9F711AD}"/>
              </a:ext>
            </a:extLst>
          </p:cNvPr>
          <p:cNvSpPr/>
          <p:nvPr/>
        </p:nvSpPr>
        <p:spPr>
          <a:xfrm>
            <a:off x="5570728" y="5478272"/>
            <a:ext cx="3613912" cy="1024128"/>
          </a:xfrm>
          <a:prstGeom prst="rect">
            <a:avLst/>
          </a:prstGeom>
          <a:solidFill>
            <a:srgbClr val="152535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451D238C-6CDA-DFFD-9F5E-5DAAEBE4F4F4}"/>
              </a:ext>
            </a:extLst>
          </p:cNvPr>
          <p:cNvSpPr/>
          <p:nvPr/>
        </p:nvSpPr>
        <p:spPr>
          <a:xfrm>
            <a:off x="5511800" y="5478272"/>
            <a:ext cx="45720" cy="10241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4E2A9844-EAF1-35B1-559E-D7CE000D3B77}"/>
              </a:ext>
            </a:extLst>
          </p:cNvPr>
          <p:cNvSpPr/>
          <p:nvPr/>
        </p:nvSpPr>
        <p:spPr>
          <a:xfrm>
            <a:off x="5603240" y="5542280"/>
            <a:ext cx="347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0CB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QUALITÉ DES DONNÉES</a:t>
            </a:r>
            <a:endParaRPr lang="en-US" sz="85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E44FDB41-BA7C-9E1D-69A4-6399712A7B86}"/>
              </a:ext>
            </a:extLst>
          </p:cNvPr>
          <p:cNvSpPr/>
          <p:nvPr/>
        </p:nvSpPr>
        <p:spPr>
          <a:xfrm>
            <a:off x="5654040" y="5752592"/>
            <a:ext cx="346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Complétude  : 94%  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Remontée temps réel : 5/6 sites  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Taux d'erreur : 1,2%  ✔</a:t>
            </a:r>
            <a:endParaRPr lang="en-US" sz="1200" dirty="0"/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2A9680D9-259F-FB47-0C80-1EB4FE113769}"/>
              </a:ext>
            </a:extLst>
          </p:cNvPr>
          <p:cNvSpPr/>
          <p:nvPr/>
        </p:nvSpPr>
        <p:spPr>
          <a:xfrm>
            <a:off x="9294368" y="5478272"/>
            <a:ext cx="2877312" cy="1024128"/>
          </a:xfrm>
          <a:prstGeom prst="rect">
            <a:avLst/>
          </a:prstGeom>
          <a:solidFill>
            <a:srgbClr val="152535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D06C97C0-BFA8-0E19-202B-593F26F0ABCD}"/>
              </a:ext>
            </a:extLst>
          </p:cNvPr>
          <p:cNvSpPr/>
          <p:nvPr/>
        </p:nvSpPr>
        <p:spPr>
          <a:xfrm>
            <a:off x="9197848" y="5478272"/>
            <a:ext cx="96520" cy="10241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CBE1D2B1-F430-E106-BCA7-2C71CB025B34}"/>
              </a:ext>
            </a:extLst>
          </p:cNvPr>
          <p:cNvSpPr/>
          <p:nvPr/>
        </p:nvSpPr>
        <p:spPr>
          <a:xfrm>
            <a:off x="9390888" y="5542280"/>
            <a:ext cx="270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E93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SATISFACTION DÉLÉGUÉS</a:t>
            </a:r>
            <a:endParaRPr lang="en-US" sz="90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018A3321-2D75-3339-C791-8929A6FBCD7E}"/>
              </a:ext>
            </a:extLst>
          </p:cNvPr>
          <p:cNvSpPr/>
          <p:nvPr/>
        </p:nvSpPr>
        <p:spPr>
          <a:xfrm>
            <a:off x="9390888" y="5734304"/>
            <a:ext cx="275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87%</a:t>
            </a:r>
            <a:endParaRPr lang="en-US" sz="22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satisfaits ou très satisfaits</a:t>
            </a:r>
            <a:endParaRPr lang="en-US" sz="3200" dirty="0"/>
          </a:p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142 / 320 réponses collectées  ✔  (seuil : 80%)</a:t>
            </a:r>
            <a:endParaRPr lang="en-US" sz="3200" dirty="0"/>
          </a:p>
        </p:txBody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0C798983-2B3F-FD6D-6C28-ABD58FB62DDB}"/>
              </a:ext>
            </a:extLst>
          </p:cNvPr>
          <p:cNvSpPr/>
          <p:nvPr/>
        </p:nvSpPr>
        <p:spPr>
          <a:xfrm>
            <a:off x="0" y="6528816"/>
            <a:ext cx="12192000" cy="32918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A704E707-B94C-F071-DCF5-DE24822DE117}"/>
              </a:ext>
            </a:extLst>
          </p:cNvPr>
          <p:cNvSpPr/>
          <p:nvPr/>
        </p:nvSpPr>
        <p:spPr>
          <a:xfrm>
            <a:off x="157480" y="6617208"/>
            <a:ext cx="11912600" cy="14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Source : Coordination Data – SGI/OMC  |  Données illustratives – à remplacer par les valeurs réelles de collecte  |  Dashboard Power BI confié à l'équipe IT/BI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152943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4628</TotalTime>
  <Words>1655</Words>
  <Application>Microsoft Macintosh PowerPoint</Application>
  <PresentationFormat>Grand écran</PresentationFormat>
  <Paragraphs>226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Thème Office</vt:lpstr>
      <vt:lpstr>DISPOSITIF DE GESTION DES DONNEES DE COUVERTURE SANITAIRE Conférence Ministérielle de l’OMC- 26 au 29 Mars 2026 </vt:lpstr>
      <vt:lpstr>Présentation PowerPoint</vt:lpstr>
      <vt:lpstr>Présentation PowerPoint</vt:lpstr>
      <vt:lpstr>Présentation PowerPoint</vt:lpstr>
      <vt:lpstr>Présentation PowerPoint</vt:lpstr>
      <vt:lpstr>INDICATEURS (A FINALISER)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DE DONNEES DE LE CONFERENCE MINISTERIELLE DE l’OMS</dc:title>
  <dc:creator>joel Lonla</dc:creator>
  <cp:lastModifiedBy>Christian Mouangue</cp:lastModifiedBy>
  <cp:revision>9</cp:revision>
  <dcterms:created xsi:type="dcterms:W3CDTF">2026-02-16T23:13:28Z</dcterms:created>
  <dcterms:modified xsi:type="dcterms:W3CDTF">2026-02-23T16:47:12Z</dcterms:modified>
</cp:coreProperties>
</file>